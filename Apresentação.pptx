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2"/>
  </p:notesMasterIdLst>
  <p:sldIdLst>
    <p:sldId id="256" r:id="rId5"/>
    <p:sldId id="1448944849" r:id="rId6"/>
    <p:sldId id="1448944847" r:id="rId7"/>
    <p:sldId id="1448944854" r:id="rId8"/>
    <p:sldId id="1448944848" r:id="rId9"/>
    <p:sldId id="1448944850" r:id="rId10"/>
    <p:sldId id="1448944851" r:id="rId11"/>
    <p:sldId id="1448944852" r:id="rId12"/>
    <p:sldId id="1448944853" r:id="rId13"/>
    <p:sldId id="1448944855" r:id="rId14"/>
    <p:sldId id="1448944859" r:id="rId15"/>
    <p:sldId id="1448944858" r:id="rId16"/>
    <p:sldId id="1448944857" r:id="rId17"/>
    <p:sldId id="1448944856" r:id="rId18"/>
    <p:sldId id="1448944860" r:id="rId19"/>
    <p:sldId id="1448944861" r:id="rId20"/>
    <p:sldId id="259" r:id="rId21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1" d="100"/>
          <a:sy n="141" d="100"/>
        </p:scale>
        <p:origin x="74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3" y="2559082"/>
            <a:ext cx="5819664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 fontScale="77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Python RAD – Projeto Biblioteca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Palestrante(s):  Tiago Carvalho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Projeto Biblioteca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BE6FBB3-429D-4117-896C-DF5221389369}"/>
              </a:ext>
            </a:extLst>
          </p:cNvPr>
          <p:cNvSpPr txBox="1"/>
          <p:nvPr/>
        </p:nvSpPr>
        <p:spPr>
          <a:xfrm>
            <a:off x="1412240" y="2404370"/>
            <a:ext cx="4572000" cy="138499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sz="2800" dirty="0"/>
              <a:t>Desenvolvimento completo do sistema com </a:t>
            </a:r>
            <a:r>
              <a:rPr lang="pt-BR" sz="2800" dirty="0" err="1"/>
              <a:t>deploy</a:t>
            </a:r>
            <a:r>
              <a:rPr lang="pt-BR" sz="2800" dirty="0"/>
              <a:t> no Railway</a:t>
            </a:r>
          </a:p>
        </p:txBody>
      </p:sp>
    </p:spTree>
    <p:extLst>
      <p:ext uri="{BB962C8B-B14F-4D97-AF65-F5344CB8AC3E}">
        <p14:creationId xmlns:p14="http://schemas.microsoft.com/office/powerpoint/2010/main" val="241327094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Objetivo do Projeto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841C2211-2034-4151-B70C-AECB8CCEB024}"/>
              </a:ext>
            </a:extLst>
          </p:cNvPr>
          <p:cNvSpPr txBox="1"/>
          <p:nvPr/>
        </p:nvSpPr>
        <p:spPr>
          <a:xfrm>
            <a:off x="457200" y="1966856"/>
            <a:ext cx="7703127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Gerenciar</a:t>
            </a:r>
            <a:r>
              <a:rPr dirty="0"/>
              <a:t> </a:t>
            </a:r>
            <a:r>
              <a:rPr dirty="0" err="1"/>
              <a:t>livros</a:t>
            </a:r>
            <a:r>
              <a:rPr dirty="0"/>
              <a:t> e </a:t>
            </a:r>
            <a:r>
              <a:rPr dirty="0" err="1"/>
              <a:t>empréstimos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Controlar</a:t>
            </a:r>
            <a:r>
              <a:rPr dirty="0"/>
              <a:t> </a:t>
            </a:r>
            <a:r>
              <a:rPr dirty="0" err="1"/>
              <a:t>reservas</a:t>
            </a:r>
            <a:r>
              <a:rPr dirty="0"/>
              <a:t> dos </a:t>
            </a:r>
            <a:r>
              <a:rPr dirty="0" err="1"/>
              <a:t>usuários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Criar</a:t>
            </a:r>
            <a:r>
              <a:rPr dirty="0"/>
              <a:t> dashboard com </a:t>
            </a:r>
            <a:r>
              <a:rPr dirty="0" err="1"/>
              <a:t>informações</a:t>
            </a:r>
            <a:r>
              <a:rPr dirty="0"/>
              <a:t> da </a:t>
            </a:r>
            <a:r>
              <a:rPr dirty="0" err="1"/>
              <a:t>biblioteca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Desenvolver</a:t>
            </a:r>
            <a:r>
              <a:rPr dirty="0"/>
              <a:t> um </a:t>
            </a:r>
            <a:r>
              <a:rPr dirty="0" err="1"/>
              <a:t>sistema</a:t>
            </a:r>
            <a:r>
              <a:rPr dirty="0"/>
              <a:t> web </a:t>
            </a:r>
            <a:r>
              <a:rPr dirty="0" err="1"/>
              <a:t>completo</a:t>
            </a:r>
            <a:endParaRPr lang="pt-BR" dirty="0"/>
          </a:p>
          <a:p>
            <a:pPr>
              <a:spcAft>
                <a:spcPts val="1000"/>
              </a:spcAft>
              <a:defRPr sz="1800"/>
            </a:pPr>
            <a:r>
              <a:rPr lang="pt-BR" dirty="0"/>
              <a:t>• Controle de usuário por hierarquia (Acesso só para ADMIN)</a:t>
            </a: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Tecnologias Utilizadas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333652E-BA30-4D9B-93B8-510FAB7A9EB3}"/>
              </a:ext>
            </a:extLst>
          </p:cNvPr>
          <p:cNvSpPr txBox="1"/>
          <p:nvPr/>
        </p:nvSpPr>
        <p:spPr>
          <a:xfrm>
            <a:off x="762000" y="1792460"/>
            <a:ext cx="751609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Python → </a:t>
            </a:r>
            <a:r>
              <a:rPr dirty="0" err="1"/>
              <a:t>Linguagem</a:t>
            </a:r>
            <a:r>
              <a:rPr dirty="0"/>
              <a:t> principal </a:t>
            </a:r>
            <a:r>
              <a:rPr dirty="0" err="1"/>
              <a:t>utilizada</a:t>
            </a:r>
            <a:r>
              <a:rPr dirty="0"/>
              <a:t> no backend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Django → Framework </a:t>
            </a:r>
            <a:r>
              <a:rPr dirty="0" err="1"/>
              <a:t>responsável</a:t>
            </a:r>
            <a:r>
              <a:rPr dirty="0"/>
              <a:t> pela </a:t>
            </a:r>
            <a:r>
              <a:rPr dirty="0" err="1"/>
              <a:t>lógica</a:t>
            </a:r>
            <a:r>
              <a:rPr dirty="0"/>
              <a:t> do </a:t>
            </a:r>
            <a:r>
              <a:rPr dirty="0" err="1"/>
              <a:t>sistema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Bootstrap → Framework </a:t>
            </a:r>
            <a:r>
              <a:rPr dirty="0" err="1"/>
              <a:t>utilizado</a:t>
            </a:r>
            <a:r>
              <a:rPr dirty="0"/>
              <a:t> para </a:t>
            </a:r>
            <a:r>
              <a:rPr dirty="0" err="1"/>
              <a:t>estilização</a:t>
            </a:r>
            <a:r>
              <a:rPr dirty="0"/>
              <a:t> e </a:t>
            </a:r>
            <a:r>
              <a:rPr dirty="0" err="1"/>
              <a:t>responsividade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HTML/CSS → </a:t>
            </a:r>
            <a:r>
              <a:rPr dirty="0" err="1"/>
              <a:t>Estrutura</a:t>
            </a:r>
            <a:r>
              <a:rPr dirty="0"/>
              <a:t> e </a:t>
            </a:r>
            <a:r>
              <a:rPr dirty="0" err="1"/>
              <a:t>personalização</a:t>
            </a:r>
            <a:r>
              <a:rPr dirty="0"/>
              <a:t> das </a:t>
            </a:r>
            <a:r>
              <a:rPr dirty="0" err="1"/>
              <a:t>páginas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SQLite → Banco de dados </a:t>
            </a:r>
            <a:r>
              <a:rPr dirty="0" err="1"/>
              <a:t>utilizado</a:t>
            </a:r>
            <a:r>
              <a:rPr dirty="0"/>
              <a:t> </a:t>
            </a:r>
            <a:r>
              <a:rPr dirty="0" err="1"/>
              <a:t>localmente</a:t>
            </a:r>
            <a:endParaRPr lang="pt-BR" dirty="0"/>
          </a:p>
          <a:p>
            <a:pPr>
              <a:spcAft>
                <a:spcPts val="1000"/>
              </a:spcAft>
              <a:defRPr sz="1800"/>
            </a:pPr>
            <a:r>
              <a:rPr lang="pt-BR" dirty="0"/>
              <a:t>• </a:t>
            </a:r>
            <a:r>
              <a:rPr lang="pt-BR" dirty="0" err="1"/>
              <a:t>Postgres</a:t>
            </a:r>
            <a:r>
              <a:rPr lang="pt-BR" dirty="0"/>
              <a:t> → Banco de dados utilizado no Railway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Railway → Plataforma </a:t>
            </a:r>
            <a:r>
              <a:rPr dirty="0" err="1"/>
              <a:t>utilizada</a:t>
            </a:r>
            <a:r>
              <a:rPr dirty="0"/>
              <a:t> para deploy do </a:t>
            </a:r>
            <a:r>
              <a:rPr dirty="0" err="1"/>
              <a:t>sistema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6077100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509833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Instalações Necessárias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B7B9B15-BDA7-4500-A91B-CC4CB65613BA}"/>
              </a:ext>
            </a:extLst>
          </p:cNvPr>
          <p:cNvSpPr txBox="1"/>
          <p:nvPr/>
        </p:nvSpPr>
        <p:spPr>
          <a:xfrm>
            <a:off x="457200" y="1932592"/>
            <a:ext cx="7799493" cy="2267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Python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Django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virtual </a:t>
            </a:r>
            <a:r>
              <a:rPr dirty="0" err="1"/>
              <a:t>venv</a:t>
            </a:r>
            <a:r>
              <a:rPr lang="pt-BR" dirty="0"/>
              <a:t> (cria um ambiente isolado para o projeto para baixar as bibliotecas para cada projeto separado)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Bootstrap via CDN</a:t>
            </a:r>
            <a:r>
              <a:rPr lang="pt-BR" dirty="0"/>
              <a:t> (usado diretamente pela internet sem baixar)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Instalação</a:t>
            </a:r>
            <a:r>
              <a:rPr dirty="0"/>
              <a:t> do </a:t>
            </a:r>
            <a:r>
              <a:rPr dirty="0" err="1"/>
              <a:t>Gunicorn</a:t>
            </a:r>
            <a:r>
              <a:rPr dirty="0"/>
              <a:t> para deploy</a:t>
            </a:r>
            <a:r>
              <a:rPr lang="pt-BR" dirty="0"/>
              <a:t> (servidor local para rodar o projeto)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4868149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Criação do Projeto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89976771-D471-4CA1-9B04-67BDAA557205}"/>
              </a:ext>
            </a:extLst>
          </p:cNvPr>
          <p:cNvSpPr txBox="1"/>
          <p:nvPr/>
        </p:nvSpPr>
        <p:spPr>
          <a:xfrm>
            <a:off x="423333" y="1871233"/>
            <a:ext cx="7846907" cy="3098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Django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do app principal 'core’</a:t>
            </a:r>
            <a:r>
              <a:rPr lang="pt-BR" dirty="0"/>
              <a:t> (criado para centralizar as funcionalidades principais do sistema, como dashboard, páginas iniciais e estrutura visual da aplicação)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das </a:t>
            </a:r>
            <a:r>
              <a:rPr dirty="0" err="1"/>
              <a:t>rotas</a:t>
            </a:r>
            <a:r>
              <a:rPr lang="pt-BR" dirty="0"/>
              <a:t> (Django verifica a rota e chama a função correta,  fica no arquivo urls.py)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Desenvolvimento</a:t>
            </a:r>
            <a:r>
              <a:rPr dirty="0"/>
              <a:t> das </a:t>
            </a:r>
            <a:r>
              <a:rPr dirty="0" err="1"/>
              <a:t>páginas</a:t>
            </a:r>
            <a:r>
              <a:rPr dirty="0"/>
              <a:t> HTML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de templates</a:t>
            </a:r>
            <a:r>
              <a:rPr lang="pt-BR" dirty="0"/>
              <a:t> (organiza e conecta as páginas HTML com </a:t>
            </a:r>
            <a:r>
              <a:rPr lang="pt-BR" dirty="0" err="1"/>
              <a:t>back-end</a:t>
            </a:r>
            <a:r>
              <a:rPr lang="pt-B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2505320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Estrutura do Projeto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7387A1A-6FC3-48D9-8039-B336A59ABA75}"/>
              </a:ext>
            </a:extLst>
          </p:cNvPr>
          <p:cNvSpPr txBox="1"/>
          <p:nvPr/>
        </p:nvSpPr>
        <p:spPr>
          <a:xfrm>
            <a:off x="579121" y="1866053"/>
            <a:ext cx="76708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organizado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: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Pasta templates para </a:t>
            </a:r>
            <a:r>
              <a:rPr dirty="0" err="1"/>
              <a:t>páginas</a:t>
            </a:r>
            <a:r>
              <a:rPr dirty="0"/>
              <a:t> HTML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Pasta static para CSS e imagens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Arquivos</a:t>
            </a:r>
            <a:r>
              <a:rPr dirty="0"/>
              <a:t> views.py para </a:t>
            </a:r>
            <a:r>
              <a:rPr dirty="0" err="1"/>
              <a:t>lógica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models.py para </a:t>
            </a:r>
            <a:r>
              <a:rPr dirty="0" err="1"/>
              <a:t>modelos</a:t>
            </a:r>
            <a:r>
              <a:rPr dirty="0"/>
              <a:t> do banco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urls.py para </a:t>
            </a:r>
            <a:r>
              <a:rPr dirty="0" err="1"/>
              <a:t>rotas</a:t>
            </a:r>
            <a:r>
              <a:rPr dirty="0"/>
              <a:t> do </a:t>
            </a:r>
            <a:r>
              <a:rPr dirty="0" err="1"/>
              <a:t>sistema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7143563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835" y="203201"/>
            <a:ext cx="5735031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r>
              <a:rPr lang="pt-BR" dirty="0">
                <a:solidFill>
                  <a:schemeClr val="bg1"/>
                </a:solidFill>
              </a:rPr>
              <a:t>Estrutura do Projeto Visual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Picture 3" descr="image(53).png">
            <a:extLst>
              <a:ext uri="{FF2B5EF4-FFF2-40B4-BE49-F238E27FC236}">
                <a16:creationId xmlns:a16="http://schemas.microsoft.com/office/drawing/2014/main" id="{0158920C-4E11-4370-9EF1-4CFF081E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514" y="1232745"/>
            <a:ext cx="1533379" cy="3826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600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654" y="255462"/>
            <a:ext cx="7159414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Funcionalidades Implementadas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11E513A7-30D6-41B7-81F5-7483AA5B2395}"/>
              </a:ext>
            </a:extLst>
          </p:cNvPr>
          <p:cNvSpPr txBox="1"/>
          <p:nvPr/>
        </p:nvSpPr>
        <p:spPr>
          <a:xfrm>
            <a:off x="457200" y="2075708"/>
            <a:ext cx="8009467" cy="2395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Cadastro</a:t>
            </a:r>
            <a:r>
              <a:rPr dirty="0"/>
              <a:t> de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Reserva</a:t>
            </a:r>
            <a:r>
              <a:rPr dirty="0"/>
              <a:t> de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empréstimos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Dashboard com </a:t>
            </a:r>
            <a:r>
              <a:rPr dirty="0" err="1"/>
              <a:t>estatísticas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</a:t>
            </a:r>
            <a:r>
              <a:rPr dirty="0" err="1"/>
              <a:t>persistente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Controle</a:t>
            </a:r>
            <a:r>
              <a:rPr dirty="0"/>
              <a:t> de </a:t>
            </a:r>
            <a:r>
              <a:rPr dirty="0" err="1"/>
              <a:t>usuários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41113537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Front-</a:t>
            </a:r>
            <a:r>
              <a:rPr lang="pt-BR" dirty="0" err="1">
                <a:solidFill>
                  <a:schemeClr val="bg1"/>
                </a:solidFill>
              </a:rPr>
              <a:t>end</a:t>
            </a:r>
            <a:r>
              <a:rPr lang="pt-BR" dirty="0">
                <a:solidFill>
                  <a:schemeClr val="bg1"/>
                </a:solidFill>
              </a:rPr>
              <a:t> do Sistema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DAFA65E0-7AFF-493E-B131-7BB758B1E9B9}"/>
              </a:ext>
            </a:extLst>
          </p:cNvPr>
          <p:cNvSpPr txBox="1"/>
          <p:nvPr/>
        </p:nvSpPr>
        <p:spPr>
          <a:xfrm>
            <a:off x="416561" y="2069254"/>
            <a:ext cx="750824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Sidebar </a:t>
            </a:r>
            <a:r>
              <a:rPr lang="pt-BR" dirty="0"/>
              <a:t>(menu </a:t>
            </a:r>
            <a:r>
              <a:rPr dirty="0"/>
              <a:t>lateral </a:t>
            </a:r>
            <a:r>
              <a:rPr dirty="0" err="1"/>
              <a:t>personalizada</a:t>
            </a:r>
            <a:r>
              <a:rPr lang="pt-BR" dirty="0"/>
              <a:t>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/claro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Tabelas</a:t>
            </a:r>
            <a:r>
              <a:rPr dirty="0"/>
              <a:t> </a:t>
            </a:r>
            <a:r>
              <a:rPr dirty="0" err="1"/>
              <a:t>organizadas</a:t>
            </a:r>
            <a:r>
              <a:rPr dirty="0"/>
              <a:t> com Bootstrap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Botões</a:t>
            </a:r>
            <a:r>
              <a:rPr dirty="0"/>
              <a:t> </a:t>
            </a:r>
            <a:r>
              <a:rPr dirty="0" err="1"/>
              <a:t>estilizados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Layout </a:t>
            </a:r>
            <a:r>
              <a:rPr dirty="0" err="1"/>
              <a:t>responsivo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4687937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 err="1">
                <a:solidFill>
                  <a:schemeClr val="bg1"/>
                </a:solidFill>
              </a:rPr>
              <a:t>Deploy</a:t>
            </a:r>
            <a:r>
              <a:rPr lang="pt-BR" dirty="0">
                <a:solidFill>
                  <a:schemeClr val="bg1"/>
                </a:solidFill>
              </a:rPr>
              <a:t> no Railway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C2E5071-99E1-4CC1-B437-D8ABF42E19C9}"/>
              </a:ext>
            </a:extLst>
          </p:cNvPr>
          <p:cNvSpPr txBox="1"/>
          <p:nvPr/>
        </p:nvSpPr>
        <p:spPr>
          <a:xfrm>
            <a:off x="457200" y="2057399"/>
            <a:ext cx="7657253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Integração</a:t>
            </a:r>
            <a:r>
              <a:rPr dirty="0"/>
              <a:t> do </a:t>
            </a:r>
            <a:r>
              <a:rPr dirty="0" err="1"/>
              <a:t>projeto</a:t>
            </a:r>
            <a:r>
              <a:rPr dirty="0"/>
              <a:t> com GitHub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 </a:t>
            </a:r>
            <a:r>
              <a:rPr dirty="0" err="1"/>
              <a:t>ambiente</a:t>
            </a:r>
            <a:r>
              <a:rPr dirty="0"/>
              <a:t> Railway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Configuração</a:t>
            </a:r>
            <a:r>
              <a:rPr dirty="0"/>
              <a:t> dos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estáticos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Criação</a:t>
            </a:r>
            <a:r>
              <a:rPr dirty="0"/>
              <a:t> de banco de dados no Railway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Publicação</a:t>
            </a:r>
            <a:r>
              <a:rPr dirty="0"/>
              <a:t> do </a:t>
            </a:r>
            <a:r>
              <a:rPr dirty="0" err="1"/>
              <a:t>sistema</a:t>
            </a:r>
            <a:r>
              <a:rPr dirty="0"/>
              <a:t> online</a:t>
            </a:r>
          </a:p>
        </p:txBody>
      </p:sp>
    </p:spTree>
    <p:extLst>
      <p:ext uri="{BB962C8B-B14F-4D97-AF65-F5344CB8AC3E}">
        <p14:creationId xmlns:p14="http://schemas.microsoft.com/office/powerpoint/2010/main" val="588860486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Erros Encontrados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0A3D7832-4976-4221-873A-1B2DDC83DF6F}"/>
              </a:ext>
            </a:extLst>
          </p:cNvPr>
          <p:cNvSpPr txBox="1"/>
          <p:nvPr/>
        </p:nvSpPr>
        <p:spPr>
          <a:xfrm>
            <a:off x="423334" y="2306319"/>
            <a:ext cx="769112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Problemas</a:t>
            </a:r>
            <a:r>
              <a:rPr dirty="0"/>
              <a:t> com </a:t>
            </a:r>
            <a:r>
              <a:rPr dirty="0" err="1"/>
              <a:t>arquivos</a:t>
            </a:r>
            <a:r>
              <a:rPr dirty="0"/>
              <a:t> </a:t>
            </a:r>
            <a:r>
              <a:rPr dirty="0" err="1"/>
              <a:t>estáticos</a:t>
            </a:r>
            <a:r>
              <a:rPr dirty="0"/>
              <a:t> no deploy</a:t>
            </a:r>
            <a:r>
              <a:rPr lang="pt-BR" dirty="0"/>
              <a:t> (quando o projeto deixa de carregar corretamente)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Tema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permanecia</a:t>
            </a:r>
            <a:r>
              <a:rPr dirty="0"/>
              <a:t> entre </a:t>
            </a:r>
            <a:r>
              <a:rPr dirty="0" err="1"/>
              <a:t>páginas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Ordem</a:t>
            </a:r>
            <a:r>
              <a:rPr dirty="0"/>
              <a:t> da </a:t>
            </a:r>
            <a:r>
              <a:rPr dirty="0" err="1"/>
              <a:t>tabela</a:t>
            </a:r>
            <a:r>
              <a:rPr dirty="0"/>
              <a:t> </a:t>
            </a:r>
            <a:r>
              <a:rPr dirty="0" err="1"/>
              <a:t>alterava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reservar</a:t>
            </a:r>
            <a:r>
              <a:rPr dirty="0"/>
              <a:t> </a:t>
            </a:r>
            <a:r>
              <a:rPr dirty="0" err="1"/>
              <a:t>livros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Dificuldades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configuração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do Railway</a:t>
            </a:r>
          </a:p>
        </p:txBody>
      </p:sp>
    </p:spTree>
    <p:extLst>
      <p:ext uri="{BB962C8B-B14F-4D97-AF65-F5344CB8AC3E}">
        <p14:creationId xmlns:p14="http://schemas.microsoft.com/office/powerpoint/2010/main" val="603295165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Soluções Aplicadas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6163122-CFF2-4C97-80DE-39AA50B2C410}"/>
              </a:ext>
            </a:extLst>
          </p:cNvPr>
          <p:cNvSpPr txBox="1"/>
          <p:nvPr/>
        </p:nvSpPr>
        <p:spPr>
          <a:xfrm>
            <a:off x="450427" y="2284306"/>
            <a:ext cx="7577667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Centralização</a:t>
            </a:r>
            <a:r>
              <a:rPr dirty="0"/>
              <a:t> do CSS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único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Uso</a:t>
            </a:r>
            <a:r>
              <a:rPr dirty="0"/>
              <a:t> do </a:t>
            </a:r>
            <a:r>
              <a:rPr dirty="0" err="1"/>
              <a:t>localStorage</a:t>
            </a:r>
            <a:r>
              <a:rPr dirty="0"/>
              <a:t> para </a:t>
            </a:r>
            <a:r>
              <a:rPr dirty="0" err="1"/>
              <a:t>salvar</a:t>
            </a:r>
            <a:r>
              <a:rPr dirty="0"/>
              <a:t> o </a:t>
            </a:r>
            <a:r>
              <a:rPr dirty="0" err="1"/>
              <a:t>tema</a:t>
            </a:r>
            <a:r>
              <a:rPr lang="pt-BR" dirty="0"/>
              <a:t> 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Ordenação</a:t>
            </a:r>
            <a:r>
              <a:rPr dirty="0"/>
              <a:t> </a:t>
            </a:r>
            <a:r>
              <a:rPr dirty="0" err="1"/>
              <a:t>fixa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</a:t>
            </a:r>
            <a:r>
              <a:rPr dirty="0" err="1"/>
              <a:t>order_by</a:t>
            </a:r>
            <a:r>
              <a:rPr dirty="0"/>
              <a:t>('id’)</a:t>
            </a:r>
            <a:r>
              <a:rPr lang="pt-BR" dirty="0"/>
              <a:t> (serve para organizar os registros do banco de dados em uma ordem específica, usando o campo id)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Ajustes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configuração</a:t>
            </a:r>
            <a:r>
              <a:rPr dirty="0"/>
              <a:t> do Railway e static files</a:t>
            </a:r>
          </a:p>
        </p:txBody>
      </p:sp>
    </p:spTree>
    <p:extLst>
      <p:ext uri="{BB962C8B-B14F-4D97-AF65-F5344CB8AC3E}">
        <p14:creationId xmlns:p14="http://schemas.microsoft.com/office/powerpoint/2010/main" val="218656164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Resultado Final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5A1D133-AB74-48EA-91F0-2DF54379B745}"/>
              </a:ext>
            </a:extLst>
          </p:cNvPr>
          <p:cNvSpPr txBox="1"/>
          <p:nvPr/>
        </p:nvSpPr>
        <p:spPr>
          <a:xfrm>
            <a:off x="457200" y="2286001"/>
            <a:ext cx="752856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• Sistema </a:t>
            </a:r>
            <a:r>
              <a:rPr dirty="0" err="1"/>
              <a:t>totalmente</a:t>
            </a:r>
            <a:r>
              <a:rPr dirty="0"/>
              <a:t> </a:t>
            </a:r>
            <a:r>
              <a:rPr dirty="0" err="1"/>
              <a:t>funcional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Interface </a:t>
            </a:r>
            <a:r>
              <a:rPr dirty="0" err="1"/>
              <a:t>moderna</a:t>
            </a:r>
            <a:r>
              <a:rPr dirty="0"/>
              <a:t> e </a:t>
            </a:r>
            <a:r>
              <a:rPr dirty="0" err="1"/>
              <a:t>organizada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Deploy online </a:t>
            </a:r>
            <a:r>
              <a:rPr dirty="0" err="1"/>
              <a:t>realizado</a:t>
            </a:r>
            <a:r>
              <a:rPr dirty="0"/>
              <a:t> com </a:t>
            </a:r>
            <a:r>
              <a:rPr dirty="0" err="1"/>
              <a:t>sucesso</a:t>
            </a:r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• </a:t>
            </a:r>
            <a:r>
              <a:rPr dirty="0" err="1"/>
              <a:t>Aplicação</a:t>
            </a:r>
            <a:r>
              <a:rPr dirty="0"/>
              <a:t> </a:t>
            </a:r>
            <a:r>
              <a:rPr dirty="0" err="1"/>
              <a:t>prática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 web </a:t>
            </a:r>
            <a:r>
              <a:rPr dirty="0" err="1"/>
              <a:t>completo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050275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Demonstração Prática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DF28E95-6FCE-40AD-B92D-FF5A1901D797}"/>
              </a:ext>
            </a:extLst>
          </p:cNvPr>
          <p:cNvSpPr txBox="1"/>
          <p:nvPr/>
        </p:nvSpPr>
        <p:spPr>
          <a:xfrm>
            <a:off x="741680" y="2387084"/>
            <a:ext cx="616712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pt-BR" dirty="0"/>
              <a:t>https://projeto-biblioteca-production.up.railway.app/login/</a:t>
            </a:r>
          </a:p>
        </p:txBody>
      </p:sp>
    </p:spTree>
    <p:extLst>
      <p:ext uri="{BB962C8B-B14F-4D97-AF65-F5344CB8AC3E}">
        <p14:creationId xmlns:p14="http://schemas.microsoft.com/office/powerpoint/2010/main" val="29878562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Conclusão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6093F813-9E62-4994-B526-70E03E8777BF}"/>
              </a:ext>
            </a:extLst>
          </p:cNvPr>
          <p:cNvSpPr txBox="1"/>
          <p:nvPr/>
        </p:nvSpPr>
        <p:spPr>
          <a:xfrm>
            <a:off x="291253" y="2341880"/>
            <a:ext cx="7782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O </a:t>
            </a: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permitiu</a:t>
            </a:r>
            <a:r>
              <a:rPr dirty="0"/>
              <a:t> </a:t>
            </a:r>
            <a:r>
              <a:rPr dirty="0" err="1"/>
              <a:t>aplicar</a:t>
            </a:r>
            <a:r>
              <a:rPr dirty="0"/>
              <a:t> </a:t>
            </a:r>
            <a:r>
              <a:rPr dirty="0" err="1"/>
              <a:t>conhecimentos</a:t>
            </a:r>
            <a:r>
              <a:rPr dirty="0"/>
              <a:t> de backend, frontend, banco de dados e deploy, </a:t>
            </a:r>
            <a:r>
              <a:rPr dirty="0" err="1"/>
              <a:t>desenvolvendo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web </a:t>
            </a:r>
            <a:r>
              <a:rPr dirty="0" err="1"/>
              <a:t>completa</a:t>
            </a:r>
            <a:r>
              <a:rPr dirty="0"/>
              <a:t> </a:t>
            </a:r>
            <a:r>
              <a:rPr dirty="0" err="1"/>
              <a:t>utilizando</a:t>
            </a:r>
            <a:r>
              <a:rPr dirty="0"/>
              <a:t> Django.</a:t>
            </a:r>
          </a:p>
        </p:txBody>
      </p:sp>
    </p:spTree>
    <p:extLst>
      <p:ext uri="{BB962C8B-B14F-4D97-AF65-F5344CB8AC3E}">
        <p14:creationId xmlns:p14="http://schemas.microsoft.com/office/powerpoint/2010/main" val="59525158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558</Words>
  <Application>Microsoft Office PowerPoint</Application>
  <PresentationFormat>Apresentação na tela (16:9)</PresentationFormat>
  <Paragraphs>79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2" baseType="lpstr">
      <vt:lpstr>Arial</vt:lpstr>
      <vt:lpstr>Big Shoulders Display Black</vt:lpstr>
      <vt:lpstr>Calibri</vt:lpstr>
      <vt:lpstr>Georama</vt:lpstr>
      <vt:lpstr>Office Theme</vt:lpstr>
      <vt:lpstr>Apresentação do PowerPoint</vt:lpstr>
      <vt:lpstr>Projeto Biblioteca</vt:lpstr>
      <vt:lpstr>Objetivo do Projeto</vt:lpstr>
      <vt:lpstr>Tecnologias Utilizadas</vt:lpstr>
      <vt:lpstr>Instalações Necessárias</vt:lpstr>
      <vt:lpstr>Criação do Projeto</vt:lpstr>
      <vt:lpstr>Estrutura do Projeto</vt:lpstr>
      <vt:lpstr>Estrutura do Projeto Visual</vt:lpstr>
      <vt:lpstr>Funcionalidades Implementadas</vt:lpstr>
      <vt:lpstr>Front-end do Sistema</vt:lpstr>
      <vt:lpstr>Deploy no Railway</vt:lpstr>
      <vt:lpstr>Erros Encontrados</vt:lpstr>
      <vt:lpstr>Soluções Aplicadas</vt:lpstr>
      <vt:lpstr>Resultado Final</vt:lpstr>
      <vt:lpstr>Demonstração Prática</vt:lpstr>
      <vt:lpstr>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TIAGO</cp:lastModifiedBy>
  <cp:revision>113</cp:revision>
  <dcterms:modified xsi:type="dcterms:W3CDTF">2026-05-24T19:38:05Z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